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59" r:id="rId8"/>
    <p:sldId id="261" r:id="rId9"/>
    <p:sldId id="262" r:id="rId10"/>
    <p:sldId id="263" r:id="rId11"/>
    <p:sldId id="264" r:id="rId12"/>
    <p:sldId id="265" r:id="rId13"/>
    <p:sldId id="271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000">
              <a:schemeClr val="accent1">
                <a:lumMod val="5000"/>
                <a:lumOff val="95000"/>
              </a:schemeClr>
            </a:gs>
            <a:gs pos="100000">
              <a:srgbClr val="00B0F0"/>
            </a:gs>
            <a:gs pos="6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001074224000548" TargetMode="External"/><Relationship Id="rId2" Type="http://schemas.openxmlformats.org/officeDocument/2006/relationships/hyperlink" Target="https://ouci.dntb.gov.ua/en/works/4yNanpM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987702/" TargetMode="External"/><Relationship Id="rId5" Type="http://schemas.openxmlformats.org/officeDocument/2006/relationships/hyperlink" Target="https://ieeexplore.ieee.org/" TargetMode="External"/><Relationship Id="rId4" Type="http://schemas.openxmlformats.org/officeDocument/2006/relationships/hyperlink" Target="https://www.mdpi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" TargetMode="External"/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aspd.com/" TargetMode="External"/><Relationship Id="rId4" Type="http://schemas.openxmlformats.org/officeDocument/2006/relationships/hyperlink" Target="https://www.sciencedirec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Predicting Sources Of Urban Air Pollution Using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/>
              <a:t>Project review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744529" cy="685800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A19A-427A-3937-1A13-DF279B6B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8968"/>
            <a:ext cx="10058400" cy="136839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2565-7C00-C6B6-3CB0-7F72B20B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2400" dirty="0">
                <a:solidFill>
                  <a:schemeClr val="tx1"/>
                </a:solidFill>
              </a:rPr>
              <a:t>23BCE7484  	     Kushal Veerapaneni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23BCE7200	     Sayyed Nazeer Hasan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23BCE8172	     </a:t>
            </a:r>
            <a:r>
              <a:rPr lang="en-IN" sz="2400" dirty="0" err="1">
                <a:solidFill>
                  <a:schemeClr val="tx1"/>
                </a:solidFill>
              </a:rPr>
              <a:t>Kakarlamudi</a:t>
            </a:r>
            <a:r>
              <a:rPr lang="en-IN" sz="2400" dirty="0">
                <a:solidFill>
                  <a:schemeClr val="tx1"/>
                </a:solidFill>
              </a:rPr>
              <a:t> Venkata Dhanush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23BCE7768         Vinayak Narendra Biswal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Submitted to:</a:t>
            </a:r>
          </a:p>
          <a:p>
            <a:pPr marL="0" indent="0">
              <a:buNone/>
            </a:pPr>
            <a:r>
              <a:rPr lang="en-IN" sz="2400" b="1" i="1" dirty="0">
                <a:solidFill>
                  <a:schemeClr val="tx1"/>
                </a:solidFill>
              </a:rPr>
              <a:t>Dr. K. G. Suma</a:t>
            </a:r>
            <a:r>
              <a:rPr lang="en-IN" sz="2400" dirty="0">
                <a:solidFill>
                  <a:schemeClr val="tx1"/>
                </a:solidFill>
              </a:rPr>
              <a:t>,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Associate Professor, SCOPE, VIT – AP University.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253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F35F50-F124-4E1F-A1A1-7D49F798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B961-8CAB-A23D-FCF0-3826219A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E030-13FE-74AA-4E07-10C467DD0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Built a </a:t>
            </a:r>
            <a:r>
              <a:rPr lang="en-US" b="1" dirty="0">
                <a:solidFill>
                  <a:schemeClr val="tx1"/>
                </a:solidFill>
              </a:rPr>
              <a:t>CNN-LSTM deep learning model</a:t>
            </a:r>
            <a:r>
              <a:rPr lang="en-US" dirty="0">
                <a:solidFill>
                  <a:schemeClr val="tx1"/>
                </a:solidFill>
              </a:rPr>
              <a:t> to identify urban pollution sources.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Classified air pollution into </a:t>
            </a:r>
            <a:r>
              <a:rPr lang="en-US" b="1" dirty="0">
                <a:solidFill>
                  <a:schemeClr val="tx1"/>
                </a:solidFill>
              </a:rPr>
              <a:t>four categories</a:t>
            </a:r>
            <a:r>
              <a:rPr lang="en-US" dirty="0">
                <a:solidFill>
                  <a:schemeClr val="tx1"/>
                </a:solidFill>
              </a:rPr>
              <a:t>: vehicle, industrial, fire smoke, and dust.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Used </a:t>
            </a:r>
            <a:r>
              <a:rPr lang="en-US" b="1" dirty="0">
                <a:solidFill>
                  <a:schemeClr val="tx1"/>
                </a:solidFill>
              </a:rPr>
              <a:t>Beijing Multi-Site Air Quality dataset</a:t>
            </a:r>
            <a:r>
              <a:rPr lang="en-US" dirty="0">
                <a:solidFill>
                  <a:schemeClr val="tx1"/>
                </a:solidFill>
              </a:rPr>
              <a:t> (PM2.5, PM10, SO2, NO2, CO, O3 + weather data).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Captured </a:t>
            </a:r>
            <a:r>
              <a:rPr lang="en-US" b="1" dirty="0">
                <a:solidFill>
                  <a:schemeClr val="tx1"/>
                </a:solidFill>
              </a:rPr>
              <a:t>spatial and temporal patterns</a:t>
            </a:r>
            <a:r>
              <a:rPr lang="en-US" dirty="0">
                <a:solidFill>
                  <a:schemeClr val="tx1"/>
                </a:solidFill>
              </a:rPr>
              <a:t> for accurate source detection.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Applied </a:t>
            </a:r>
            <a:r>
              <a:rPr lang="en-US" b="1" dirty="0">
                <a:solidFill>
                  <a:schemeClr val="tx1"/>
                </a:solidFill>
              </a:rPr>
              <a:t>weakly supervised labeling</a:t>
            </a:r>
            <a:r>
              <a:rPr lang="en-US" dirty="0">
                <a:solidFill>
                  <a:schemeClr val="tx1"/>
                </a:solidFill>
              </a:rPr>
              <a:t> using pollutant ratios, weather, and time trends.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Ensured </a:t>
            </a:r>
            <a:r>
              <a:rPr lang="en-US" b="1" dirty="0">
                <a:solidFill>
                  <a:schemeClr val="tx1"/>
                </a:solidFill>
              </a:rPr>
              <a:t>explainability with SHAP</a:t>
            </a:r>
            <a:r>
              <a:rPr lang="en-US" dirty="0">
                <a:solidFill>
                  <a:schemeClr val="tx1"/>
                </a:solidFill>
              </a:rPr>
              <a:t>, validating model predictions.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Designed as a </a:t>
            </a:r>
            <a:r>
              <a:rPr lang="en-US" b="1" dirty="0">
                <a:solidFill>
                  <a:schemeClr val="tx1"/>
                </a:solidFill>
              </a:rPr>
              <a:t>scalable, real-time tool</a:t>
            </a:r>
            <a:r>
              <a:rPr lang="en-US" dirty="0">
                <a:solidFill>
                  <a:schemeClr val="tx1"/>
                </a:solidFill>
              </a:rPr>
              <a:t> for pollution monitoring.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Supports </a:t>
            </a:r>
            <a:r>
              <a:rPr lang="en-US" b="1" dirty="0">
                <a:solidFill>
                  <a:schemeClr val="tx1"/>
                </a:solidFill>
              </a:rPr>
              <a:t>policy-making and public health improvements</a:t>
            </a:r>
            <a:r>
              <a:rPr lang="en-US" dirty="0">
                <a:solidFill>
                  <a:schemeClr val="tx1"/>
                </a:solidFill>
              </a:rPr>
              <a:t> by identifying major sources.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78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E2B83A-0BFD-BE38-7B86-757ED14C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3D567-1946-8642-E46C-131229E4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Aim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14CC-D9A6-4BE9-EE74-C7825B26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develop a deep learning-based system that accurately identifies and classifies sources of urban air pollution using spatial-temporal data, enabling real-time monitoring, policy support, and public health protection.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690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778B-C787-E176-8FCD-C381D075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5D5E-C0DF-6605-FC04-903A6B757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Classify urban air pollution into </a:t>
            </a:r>
            <a:r>
              <a:rPr lang="en-US" b="1" dirty="0">
                <a:solidFill>
                  <a:schemeClr val="tx1"/>
                </a:solidFill>
              </a:rPr>
              <a:t>vehicle, industrial, fire smoke, and dust</a:t>
            </a:r>
            <a:r>
              <a:rPr lang="en-US" dirty="0">
                <a:solidFill>
                  <a:schemeClr val="tx1"/>
                </a:solidFill>
              </a:rPr>
              <a:t> sources.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b="1" dirty="0">
                <a:solidFill>
                  <a:schemeClr val="tx1"/>
                </a:solidFill>
              </a:rPr>
              <a:t>CNN-LSTM architecture</a:t>
            </a:r>
            <a:r>
              <a:rPr lang="en-US" dirty="0">
                <a:solidFill>
                  <a:schemeClr val="tx1"/>
                </a:solidFill>
              </a:rPr>
              <a:t> to capture spatial and temporal pollution patterns.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Apply </a:t>
            </a:r>
            <a:r>
              <a:rPr lang="en-US" b="1" dirty="0">
                <a:solidFill>
                  <a:schemeClr val="tx1"/>
                </a:solidFill>
              </a:rPr>
              <a:t>weakly supervised labeling</a:t>
            </a:r>
            <a:r>
              <a:rPr lang="en-US" dirty="0">
                <a:solidFill>
                  <a:schemeClr val="tx1"/>
                </a:solidFill>
              </a:rPr>
              <a:t> for training with limited ground truth.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Ensure </a:t>
            </a:r>
            <a:r>
              <a:rPr lang="en-US" b="1" dirty="0">
                <a:solidFill>
                  <a:schemeClr val="tx1"/>
                </a:solidFill>
              </a:rPr>
              <a:t>model interpretability</a:t>
            </a:r>
            <a:r>
              <a:rPr lang="en-US" dirty="0">
                <a:solidFill>
                  <a:schemeClr val="tx1"/>
                </a:solidFill>
              </a:rPr>
              <a:t> using SHAP for trustworthy predictions.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a </a:t>
            </a:r>
            <a:r>
              <a:rPr lang="en-US" b="1" dirty="0">
                <a:solidFill>
                  <a:schemeClr val="tx1"/>
                </a:solidFill>
              </a:rPr>
              <a:t>real-time, scalable tool</a:t>
            </a:r>
            <a:r>
              <a:rPr lang="en-US" dirty="0">
                <a:solidFill>
                  <a:schemeClr val="tx1"/>
                </a:solidFill>
              </a:rPr>
              <a:t> to support environmental policy and public health.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497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0B5C-1538-C81B-C41A-02922F1BC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Scope of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E327-9E98-6587-D6BD-8AB37D51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Focused on </a:t>
            </a:r>
            <a:r>
              <a:rPr lang="en-US" b="1" dirty="0">
                <a:solidFill>
                  <a:schemeClr val="tx1"/>
                </a:solidFill>
              </a:rPr>
              <a:t>urban environments</a:t>
            </a:r>
            <a:r>
              <a:rPr lang="en-US" dirty="0">
                <a:solidFill>
                  <a:schemeClr val="tx1"/>
                </a:solidFill>
              </a:rPr>
              <a:t> with high pollution variability.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Uses </a:t>
            </a:r>
            <a:r>
              <a:rPr lang="en-US" b="1" dirty="0">
                <a:solidFill>
                  <a:schemeClr val="tx1"/>
                </a:solidFill>
              </a:rPr>
              <a:t>Beijing Multi-Site Air Quality dataset (2013–2017)</a:t>
            </a:r>
            <a:r>
              <a:rPr lang="en-US" dirty="0">
                <a:solidFill>
                  <a:schemeClr val="tx1"/>
                </a:solidFill>
              </a:rPr>
              <a:t> for training and validation.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Limited to </a:t>
            </a:r>
            <a:r>
              <a:rPr lang="en-US" b="1" dirty="0">
                <a:solidFill>
                  <a:schemeClr val="tx1"/>
                </a:solidFill>
              </a:rPr>
              <a:t>four major pollution sources</a:t>
            </a:r>
            <a:r>
              <a:rPr lang="en-US" dirty="0">
                <a:solidFill>
                  <a:schemeClr val="tx1"/>
                </a:solidFill>
              </a:rPr>
              <a:t>: vehicle, industrial, fire smoke, and dust.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Designed for </a:t>
            </a:r>
            <a:r>
              <a:rPr lang="en-US" b="1" dirty="0">
                <a:solidFill>
                  <a:schemeClr val="tx1"/>
                </a:solidFill>
              </a:rPr>
              <a:t>real-time monitoring and source attribution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Scalable to </a:t>
            </a:r>
            <a:r>
              <a:rPr lang="en-US" b="1" dirty="0">
                <a:solidFill>
                  <a:schemeClr val="tx1"/>
                </a:solidFill>
              </a:rPr>
              <a:t>other cities and datasets</a:t>
            </a:r>
            <a:r>
              <a:rPr lang="en-US" dirty="0">
                <a:solidFill>
                  <a:schemeClr val="tx1"/>
                </a:solidFill>
              </a:rPr>
              <a:t> with similar pollution indicators.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Provides </a:t>
            </a:r>
            <a:r>
              <a:rPr lang="en-US" b="1" dirty="0">
                <a:solidFill>
                  <a:schemeClr val="tx1"/>
                </a:solidFill>
              </a:rPr>
              <a:t>decision support</a:t>
            </a:r>
            <a:r>
              <a:rPr lang="en-US" dirty="0">
                <a:solidFill>
                  <a:schemeClr val="tx1"/>
                </a:solidFill>
              </a:rPr>
              <a:t> for policymakers, researchers, and environmental agencies.</a:t>
            </a:r>
          </a:p>
          <a:p>
            <a:pPr marL="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13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5DB6-24E7-7E79-924A-C21D4387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Motivation Of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E2D5-315F-2802-868A-C32544A36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Air pollution is a global crisis</a:t>
            </a:r>
            <a:r>
              <a:rPr lang="en-US" dirty="0">
                <a:solidFill>
                  <a:schemeClr val="tx1"/>
                </a:solidFill>
              </a:rPr>
              <a:t> : WHO reports 99% of people breathe unsafe air.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Causes </a:t>
            </a:r>
            <a:r>
              <a:rPr lang="en-US" b="1" dirty="0">
                <a:solidFill>
                  <a:schemeClr val="tx1"/>
                </a:solidFill>
              </a:rPr>
              <a:t>millions of premature deaths</a:t>
            </a:r>
            <a:r>
              <a:rPr lang="en-US" dirty="0">
                <a:solidFill>
                  <a:schemeClr val="tx1"/>
                </a:solidFill>
              </a:rPr>
              <a:t> due to respiratory and cardiovascular diseases.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Traditional source identification methods (CMB, PMF) are </a:t>
            </a:r>
            <a:r>
              <a:rPr lang="en-US" b="1" dirty="0">
                <a:solidFill>
                  <a:schemeClr val="tx1"/>
                </a:solidFill>
              </a:rPr>
              <a:t>costly, data-heavy, and less effective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Need for </a:t>
            </a:r>
            <a:r>
              <a:rPr lang="en-US" b="1" dirty="0">
                <a:solidFill>
                  <a:schemeClr val="tx1"/>
                </a:solidFill>
              </a:rPr>
              <a:t>fast, accurate, and low-cost solutions</a:t>
            </a:r>
            <a:r>
              <a:rPr lang="en-US" dirty="0">
                <a:solidFill>
                  <a:schemeClr val="tx1"/>
                </a:solidFill>
              </a:rPr>
              <a:t> to track pollution sources.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Deep learning offers powerful tools</a:t>
            </a:r>
            <a:r>
              <a:rPr lang="en-US" dirty="0">
                <a:solidFill>
                  <a:schemeClr val="tx1"/>
                </a:solidFill>
              </a:rPr>
              <a:t> to capture complex spatial-temporal patterns in air quality data.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Helps </a:t>
            </a:r>
            <a:r>
              <a:rPr lang="en-US" b="1" dirty="0">
                <a:solidFill>
                  <a:schemeClr val="tx1"/>
                </a:solidFill>
              </a:rPr>
              <a:t>policymakers and communities</a:t>
            </a:r>
            <a:r>
              <a:rPr lang="en-US" dirty="0">
                <a:solidFill>
                  <a:schemeClr val="tx1"/>
                </a:solidFill>
              </a:rPr>
              <a:t> take targeted actions to improve air quality and public health.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6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0F422-A77D-B0C6-BB11-92507B5B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399AF-1326-9830-BC31-3C78E438A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4" y="1737361"/>
            <a:ext cx="10892589" cy="4834036"/>
          </a:xfrm>
        </p:spPr>
        <p:txBody>
          <a:bodyPr>
            <a:normAutofit fontScale="92500"/>
          </a:bodyPr>
          <a:lstStyle/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Supervised Machine Learning Approaches for Predicting Key Pollutants and for the Sustainable Enhancement of Urban Air Quality: A Systematic Review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Deep Learning based multimodal urban air quality prediction and traffic analysis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Meteorological and traffic effects on air pollutants using Bayesian networks and deep learning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Investigating major sources of air pollution and improving spatiotemporal forecast accuracy using machine learning and a proxy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Deep Leaning for Prediction of the Air Quality Response to Emission Changes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Developing AI-Based Pollution Source Identification Models: A Deep Learning Approach Using Satellite Data in Industrial Regions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Source apportionment of PM</a:t>
            </a:r>
            <a:r>
              <a:rPr lang="en-IN" sz="1600" baseline="-25000" dirty="0">
                <a:solidFill>
                  <a:schemeClr val="tx1"/>
                </a:solidFill>
              </a:rPr>
              <a:t>10 </a:t>
            </a:r>
            <a:r>
              <a:rPr lang="en-IN" sz="1600" dirty="0">
                <a:solidFill>
                  <a:schemeClr val="tx1"/>
                </a:solidFill>
              </a:rPr>
              <a:t> particles in the urban atmosphere using PMF and LPO-</a:t>
            </a:r>
            <a:r>
              <a:rPr lang="en-IN" sz="1600" dirty="0" err="1">
                <a:solidFill>
                  <a:schemeClr val="tx1"/>
                </a:solidFill>
              </a:rPr>
              <a:t>XGBoost</a:t>
            </a:r>
            <a:endParaRPr lang="en-IN" sz="16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A literature Review on the Prediction of Air Quality Index and Forecasting Ambient Air Pollutants using Machine Learning Algorithms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Transfer Learning-Driven Hourly PM</a:t>
            </a:r>
            <a:r>
              <a:rPr lang="en-IN" sz="1600" baseline="-25000" dirty="0">
                <a:solidFill>
                  <a:schemeClr val="tx1"/>
                </a:solidFill>
              </a:rPr>
              <a:t>2.5</a:t>
            </a:r>
            <a:r>
              <a:rPr lang="en-IN" sz="1600" dirty="0">
                <a:solidFill>
                  <a:schemeClr val="tx1"/>
                </a:solidFill>
              </a:rPr>
              <a:t> Prediction Based on a Modified Hybrid Deep Learning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r>
              <a:rPr lang="en-IN" sz="1600" dirty="0">
                <a:solidFill>
                  <a:schemeClr val="tx1"/>
                </a:solidFill>
              </a:rPr>
              <a:t>A Deep CNN-LSTM Model for Particulate Matter (PM</a:t>
            </a:r>
            <a:r>
              <a:rPr lang="en-IN" sz="1600" baseline="-25000" dirty="0">
                <a:solidFill>
                  <a:schemeClr val="tx1"/>
                </a:solidFill>
              </a:rPr>
              <a:t>2.5</a:t>
            </a:r>
            <a:r>
              <a:rPr lang="en-IN" sz="1600" dirty="0">
                <a:solidFill>
                  <a:schemeClr val="tx1"/>
                </a:solidFill>
              </a:rPr>
              <a:t> ) Forecasting in Smart Cities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IN" sz="1600" dirty="0"/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267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2CCA-D750-60BC-CDAB-AC36E104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Literature Review(Continuation)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38DE3-6ED7-60D9-61FF-566C9D2BC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11. Deep Learning-based Smart Street Lamps – A Solution to Urban Pollution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12. Urban</a:t>
            </a:r>
            <a:r>
              <a:rPr lang="en-IN" sz="2000" dirty="0">
                <a:solidFill>
                  <a:schemeClr val="tx1"/>
                </a:solidFill>
              </a:rPr>
              <a:t> PM</a:t>
            </a:r>
            <a:r>
              <a:rPr lang="en-IN" sz="2000" baseline="-25000" dirty="0">
                <a:solidFill>
                  <a:schemeClr val="tx1"/>
                </a:solidFill>
              </a:rPr>
              <a:t>2.5</a:t>
            </a:r>
            <a:r>
              <a:rPr lang="en-IN" sz="2000" dirty="0">
                <a:solidFill>
                  <a:schemeClr val="tx1"/>
                </a:solidFill>
              </a:rPr>
              <a:t> Concentration via Attention Based CNN-LSTM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13. </a:t>
            </a:r>
            <a:r>
              <a:rPr lang="en-IN" sz="2000" dirty="0" err="1">
                <a:solidFill>
                  <a:schemeClr val="tx1"/>
                </a:solidFill>
              </a:rPr>
              <a:t>HighAir</a:t>
            </a:r>
            <a:r>
              <a:rPr lang="en-IN" sz="2000" dirty="0">
                <a:solidFill>
                  <a:schemeClr val="tx1"/>
                </a:solidFill>
              </a:rPr>
              <a:t>: A Hierarchical Graph Neural Network-Based Air Quality Forecasting Method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14. A forecasting system for deterministic and uncertain prediction of air pollution data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15. Prediction of air pollutants on roadside of the elevated roads with combination od pollutants periodicity and deep learning method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</a:rPr>
              <a:t>16. Machine Learning model to predict vehicle electrification impacts in urban air quality and related human health effects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80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B490-81FE-F667-3210-0424D9BE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C0A9-28DE-4177-5F18-619EA52C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Journals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A8AEF-5180-E7CA-0282-84D2C69C9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Accurate Hourly AQI Prediction using CNN-LSTM-MHA+GRU (2024), </a:t>
            </a:r>
            <a:r>
              <a:rPr lang="en-IN" dirty="0">
                <a:hlinkClick r:id="rId2"/>
              </a:rPr>
              <a:t>journal link</a:t>
            </a:r>
            <a:r>
              <a:rPr lang="en-IN" dirty="0"/>
              <a:t> 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Meteorological and Traffic Effects on Air Pollutants using Bayesian Networks and Deep Learning (Published 2025), </a:t>
            </a:r>
            <a:r>
              <a:rPr lang="en-US" dirty="0">
                <a:hlinkClick r:id="rId3"/>
              </a:rPr>
              <a:t>journal link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Improving Air Quality Forecasting: A New </a:t>
            </a:r>
            <a:r>
              <a:rPr lang="en-US" dirty="0" err="1"/>
              <a:t>Spatio</a:t>
            </a:r>
            <a:r>
              <a:rPr lang="en-US" dirty="0"/>
              <a:t>-Temporal Model Using Graph Convolution and Multi-Head Attention (Published 2024), </a:t>
            </a:r>
            <a:r>
              <a:rPr lang="en-US" dirty="0">
                <a:hlinkClick r:id="rId4"/>
              </a:rPr>
              <a:t>journal link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Mitigating Air Pollution Risks with Deep Learning: A Quantum-Optimized Approach for Nitrogen Dioxide Prediction in Los Angeles (Published 2025), </a:t>
            </a:r>
            <a:r>
              <a:rPr lang="en-US" dirty="0">
                <a:hlinkClick r:id="rId5"/>
              </a:rPr>
              <a:t>journal link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Comparative Analysis of Deep Learning and Machine Learning Models for Air Quality Classification (Published 2025), </a:t>
            </a:r>
            <a:r>
              <a:rPr lang="en-US" dirty="0">
                <a:hlinkClick r:id="rId6"/>
              </a:rPr>
              <a:t>journal link</a:t>
            </a:r>
            <a:br>
              <a:rPr lang="en-IN" dirty="0"/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24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1D88-FA20-5BCA-4D8A-CC5AF098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Proposal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DAA4-BCBF-830D-2FF6-991868475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chemeClr val="tx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21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9D0A-2DB4-2816-4162-6D8AF98E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5D5D-FEE1-DA8F-D75B-5E80B54F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GPU:</a:t>
            </a:r>
            <a:r>
              <a:rPr lang="en-IN" dirty="0">
                <a:solidFill>
                  <a:schemeClr val="tx1"/>
                </a:solidFill>
              </a:rPr>
              <a:t> NVIDIA GPU with CUDA support (e.g., RTX 3080/4080, 16 GB VRAM)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Cloud GPUs:</a:t>
            </a:r>
            <a:r>
              <a:rPr lang="en-US" dirty="0">
                <a:solidFill>
                  <a:schemeClr val="tx1"/>
                </a:solidFill>
              </a:rPr>
              <a:t> Kaggle, Google </a:t>
            </a:r>
            <a:r>
              <a:rPr lang="en-US" dirty="0" err="1">
                <a:solidFill>
                  <a:schemeClr val="tx1"/>
                </a:solidFill>
              </a:rPr>
              <a:t>Colab</a:t>
            </a:r>
            <a:r>
              <a:rPr lang="en-US" dirty="0">
                <a:solidFill>
                  <a:schemeClr val="tx1"/>
                </a:solidFill>
              </a:rPr>
              <a:t> for large-scale training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RAM:</a:t>
            </a:r>
            <a:r>
              <a:rPr lang="en-US" dirty="0">
                <a:solidFill>
                  <a:schemeClr val="tx1"/>
                </a:solidFill>
              </a:rPr>
              <a:t> Minimum 4 GB (8 GB recommended)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Storage:</a:t>
            </a:r>
            <a:r>
              <a:rPr lang="en-IN" dirty="0">
                <a:solidFill>
                  <a:schemeClr val="tx1"/>
                </a:solidFill>
              </a:rPr>
              <a:t> 1–2 GB SSD (cloud/local) for datasets and model storage</a:t>
            </a:r>
          </a:p>
        </p:txBody>
      </p:sp>
    </p:spTree>
    <p:extLst>
      <p:ext uri="{BB962C8B-B14F-4D97-AF65-F5344CB8AC3E}">
        <p14:creationId xmlns:p14="http://schemas.microsoft.com/office/powerpoint/2010/main" val="282202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1C6E-E923-274B-961D-0249ADC0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ADE1-60BC-4D11-229B-7C9E026D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Operating System:</a:t>
            </a:r>
            <a:r>
              <a:rPr lang="en-US" dirty="0">
                <a:solidFill>
                  <a:schemeClr val="tx1"/>
                </a:solidFill>
              </a:rPr>
              <a:t> Ubuntu/Linux (preferred), Windows/macOS (extra setup needed)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Programming Language:</a:t>
            </a:r>
            <a:r>
              <a:rPr lang="en-IN" dirty="0">
                <a:solidFill>
                  <a:schemeClr val="tx1"/>
                </a:solidFill>
              </a:rPr>
              <a:t> Python 3.8+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Deep Learning Frameworks:</a:t>
            </a:r>
            <a:r>
              <a:rPr lang="en-US" dirty="0">
                <a:solidFill>
                  <a:schemeClr val="tx1"/>
                </a:solidFill>
              </a:rPr>
              <a:t> TensorFlow (</a:t>
            </a:r>
            <a:r>
              <a:rPr lang="en-US" dirty="0" err="1">
                <a:solidFill>
                  <a:schemeClr val="tx1"/>
                </a:solidFill>
              </a:rPr>
              <a:t>Keras</a:t>
            </a:r>
            <a:r>
              <a:rPr lang="en-US" dirty="0">
                <a:solidFill>
                  <a:schemeClr val="tx1"/>
                </a:solidFill>
              </a:rPr>
              <a:t>) / </a:t>
            </a:r>
            <a:r>
              <a:rPr lang="en-US" dirty="0" err="1">
                <a:solidFill>
                  <a:schemeClr val="tx1"/>
                </a:solidFill>
              </a:rPr>
              <a:t>PyTorch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Data Processing Tools:</a:t>
            </a:r>
            <a:r>
              <a:rPr lang="en-US" dirty="0">
                <a:solidFill>
                  <a:schemeClr val="tx1"/>
                </a:solidFill>
              </a:rPr>
              <a:t> NumPy, Pandas, Scikit-learn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Visualization Tools:</a:t>
            </a:r>
            <a:r>
              <a:rPr lang="en-IN" dirty="0">
                <a:solidFill>
                  <a:schemeClr val="tx1"/>
                </a:solidFill>
              </a:rPr>
              <a:t> Matplotlib, Seaborn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Model Explainability:</a:t>
            </a:r>
            <a:r>
              <a:rPr lang="en-IN" dirty="0">
                <a:solidFill>
                  <a:schemeClr val="tx1"/>
                </a:solidFill>
              </a:rPr>
              <a:t> SHAP library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Time Series Tools: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tsai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sktime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Version Control &amp; Dev:</a:t>
            </a:r>
            <a:r>
              <a:rPr lang="en-IN" dirty="0">
                <a:solidFill>
                  <a:schemeClr val="tx1"/>
                </a:solidFill>
              </a:rPr>
              <a:t> Git, </a:t>
            </a:r>
            <a:r>
              <a:rPr lang="en-IN" dirty="0" err="1">
                <a:solidFill>
                  <a:schemeClr val="tx1"/>
                </a:solidFill>
              </a:rPr>
              <a:t>Jupyter</a:t>
            </a:r>
            <a:r>
              <a:rPr lang="en-IN" dirty="0">
                <a:solidFill>
                  <a:schemeClr val="tx1"/>
                </a:solidFill>
              </a:rPr>
              <a:t> Notebook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Cloud Platforms:</a:t>
            </a:r>
            <a:r>
              <a:rPr lang="en-US" dirty="0">
                <a:solidFill>
                  <a:schemeClr val="tx1"/>
                </a:solidFill>
              </a:rPr>
              <a:t> AWS, Google Cloud, Google </a:t>
            </a:r>
            <a:r>
              <a:rPr lang="en-US" dirty="0" err="1">
                <a:solidFill>
                  <a:schemeClr val="tx1"/>
                </a:solidFill>
              </a:rPr>
              <a:t>Colab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49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75F3-6F74-6465-3EE9-0187D19C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3B8F-2CF6-2CA5-9624-4E7B1A6E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Developed a </a:t>
            </a:r>
            <a:r>
              <a:rPr lang="en-US" b="1" dirty="0">
                <a:solidFill>
                  <a:schemeClr val="tx1"/>
                </a:solidFill>
              </a:rPr>
              <a:t>CNN-LSTM model</a:t>
            </a:r>
            <a:r>
              <a:rPr lang="en-US" dirty="0">
                <a:solidFill>
                  <a:schemeClr val="tx1"/>
                </a:solidFill>
              </a:rPr>
              <a:t> to identify urban air pollution sources with high accuracy.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Combined </a:t>
            </a:r>
            <a:r>
              <a:rPr lang="en-US" b="1" dirty="0">
                <a:solidFill>
                  <a:schemeClr val="tx1"/>
                </a:solidFill>
              </a:rPr>
              <a:t>air quality and weather data</a:t>
            </a:r>
            <a:r>
              <a:rPr lang="en-US" dirty="0">
                <a:solidFill>
                  <a:schemeClr val="tx1"/>
                </a:solidFill>
              </a:rPr>
              <a:t> for robust spatial-temporal analysis.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Overcame limitations of traditional methods (costly, linear, data-heavy).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Ensured </a:t>
            </a:r>
            <a:r>
              <a:rPr lang="en-US" b="1" dirty="0">
                <a:solidFill>
                  <a:schemeClr val="tx1"/>
                </a:solidFill>
              </a:rPr>
              <a:t>transparency and trust</a:t>
            </a:r>
            <a:r>
              <a:rPr lang="en-US" dirty="0">
                <a:solidFill>
                  <a:schemeClr val="tx1"/>
                </a:solidFill>
              </a:rPr>
              <a:t> through SHAP-based explainability.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Provides a </a:t>
            </a:r>
            <a:r>
              <a:rPr lang="en-US" b="1" dirty="0">
                <a:solidFill>
                  <a:schemeClr val="tx1"/>
                </a:solidFill>
              </a:rPr>
              <a:t>real-time, scalable tool</a:t>
            </a:r>
            <a:r>
              <a:rPr lang="en-US" dirty="0">
                <a:solidFill>
                  <a:schemeClr val="tx1"/>
                </a:solidFill>
              </a:rPr>
              <a:t> for policymakers and environmental agencies.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Supports </a:t>
            </a:r>
            <a:r>
              <a:rPr lang="en-US" b="1" dirty="0">
                <a:solidFill>
                  <a:schemeClr val="tx1"/>
                </a:solidFill>
              </a:rPr>
              <a:t>targeted interventions</a:t>
            </a:r>
            <a:r>
              <a:rPr lang="en-US" dirty="0">
                <a:solidFill>
                  <a:schemeClr val="tx1"/>
                </a:solidFill>
              </a:rPr>
              <a:t> to improve public health and environmental sustainability.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Future work: explore </a:t>
            </a:r>
            <a:r>
              <a:rPr lang="en-US" b="1" dirty="0">
                <a:solidFill>
                  <a:schemeClr val="tx1"/>
                </a:solidFill>
              </a:rPr>
              <a:t>unsupervised methods, satellite data integration, and Transformer-based models</a:t>
            </a:r>
            <a:r>
              <a:rPr lang="en-US" dirty="0">
                <a:solidFill>
                  <a:schemeClr val="tx1"/>
                </a:solidFill>
              </a:rPr>
              <a:t> for better source detection.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91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06CD-67C8-68CC-CD21-C61E2AAA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9302-57E3-DA3D-6046-2FD45E6B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Google Scholar. (2025). </a:t>
            </a:r>
            <a:r>
              <a:rPr lang="en-US" i="1" dirty="0">
                <a:solidFill>
                  <a:schemeClr val="tx1"/>
                </a:solidFill>
              </a:rPr>
              <a:t>Scholarly research on air pollution and deep learning</a:t>
            </a:r>
            <a:r>
              <a:rPr lang="en-US" dirty="0">
                <a:solidFill>
                  <a:schemeClr val="tx1"/>
                </a:solidFill>
              </a:rPr>
              <a:t>. Retrieved from </a:t>
            </a:r>
            <a:r>
              <a:rPr lang="en-US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IEEE Xplore. (2025). </a:t>
            </a:r>
            <a:r>
              <a:rPr lang="en-US" i="1" dirty="0"/>
              <a:t>Digital library for research in engineering and technology</a:t>
            </a:r>
            <a:r>
              <a:rPr lang="en-US" dirty="0"/>
              <a:t>. Retrieved from </a:t>
            </a:r>
            <a:r>
              <a:rPr lang="en-US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</a:t>
            </a:r>
            <a:endParaRPr lang="en-US" dirty="0">
              <a:solidFill>
                <a:srgbClr val="002060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ScienceDirect. (2025). </a:t>
            </a:r>
            <a:r>
              <a:rPr lang="en-US" i="1" dirty="0"/>
              <a:t>Scientific articles on air pollution and deep learning</a:t>
            </a:r>
            <a:r>
              <a:rPr lang="en-US" dirty="0"/>
              <a:t>. Retrieved from </a:t>
            </a:r>
            <a:r>
              <a:rPr lang="en-US" dirty="0">
                <a:solidFill>
                  <a:srgbClr val="00206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</a:t>
            </a:r>
            <a:endParaRPr lang="en-US" dirty="0">
              <a:solidFill>
                <a:srgbClr val="002060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TheASPD</a:t>
            </a:r>
            <a:r>
              <a:rPr lang="en-US" dirty="0"/>
              <a:t> (2025). </a:t>
            </a:r>
            <a:r>
              <a:rPr lang="en-US" i="1" dirty="0"/>
              <a:t>International Journal of Environmental Sciences (IJES)</a:t>
            </a:r>
            <a:r>
              <a:rPr lang="en-US" dirty="0"/>
              <a:t>. Retrieved from </a:t>
            </a:r>
            <a:r>
              <a:rPr lang="en-US" dirty="0">
                <a:solidFill>
                  <a:srgbClr val="00206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https://theaspd.com</a:t>
            </a:r>
            <a:endParaRPr lang="en-US" dirty="0">
              <a:solidFill>
                <a:srgbClr val="002060"/>
              </a:solidFill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8843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1094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Franklin Gothic Book</vt:lpstr>
      <vt:lpstr>Custom</vt:lpstr>
      <vt:lpstr>Predicting Sources Of Urban Air Pollution Using Deep Learning</vt:lpstr>
      <vt:lpstr>By:</vt:lpstr>
      <vt:lpstr>Abstract</vt:lpstr>
      <vt:lpstr>Aim Of The Project</vt:lpstr>
      <vt:lpstr>Objective</vt:lpstr>
      <vt:lpstr>Scope of the Work</vt:lpstr>
      <vt:lpstr>Motivation Of The Work</vt:lpstr>
      <vt:lpstr>Literature Survey</vt:lpstr>
      <vt:lpstr>Literature Review(Continuation)</vt:lpstr>
      <vt:lpstr>Journals</vt:lpstr>
      <vt:lpstr>Proposal Work</vt:lpstr>
      <vt:lpstr>Hardware Requirements</vt:lpstr>
      <vt:lpstr>Software Requirements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Vinayak Biswal</dc:creator>
  <cp:lastModifiedBy>Vinayak Biswal</cp:lastModifiedBy>
  <cp:revision>3</cp:revision>
  <dcterms:created xsi:type="dcterms:W3CDTF">2025-09-09T12:28:10Z</dcterms:created>
  <dcterms:modified xsi:type="dcterms:W3CDTF">2025-10-24T17:39:29Z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